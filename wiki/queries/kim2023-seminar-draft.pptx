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메시지를 여기서 미리 말하지 않는다. 같은 학교(한양대 선양국 그룹) 논문이라는 점은 한 줄만. 부제(우리 관점): 액체계 논문이지만 탄소 설계·압축 성형·첫 충전 활성화량이 수명 용량을 정한다는 관측은 우리 ASSB reference cell 에 그대로 걸린다.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단위 두 개를 여기서 못 박는다. 우리 목표 500–600 mAh g⁻¹ 의 기준(S 인지 Li2S 인지)이 아직 미확인이라는 점을 스스로 상기. 근거: digest §2.2, 위키 capacity-normalization-li2s-vs-sulfur.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[도표] 값임을 말한다. 이 그림의 셀 조건(어느 양극·로딩)은 캡션에 없다. 우리 위키 li2s-activation-first-charge 의 근거 1. 마지막 bullet 은 슬라이드 16 으로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digest §2.2, §4.1. 도식은 개념도이며 논문 그림이 아니다. 두께 166 µm 는 Fig. 2B 의 [인쇄] 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패널 C 의 세 원이 논문 전체의 논리 그림이다. 우리 위키 carbon-dimensionality-electron-network. 우리 AB 20 wt% 는 0D 사슬이라 어느 쪽도 최적이 아니라는 점을 16장에서.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digest §4.2. 80/59 ≈ 1.36 → 본문 ~35 % 와 일치. 이 슬라이드는 '접촉' 이 아니라 '네트워크' 만 증명한다는 점을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우리와 형태적으로 같은 계열(압축 펠릿, 바인더 없음). 차이는 25 % 자리를 우리는 SE 50 + C 20 으로 나눈다는 것. BM 조건 미기재는 재현 불가라는 뜻 — 세미나 질문거리.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스파이크 ~3.4 V 는 있다. 우리 ASSB Li2S 도 첫 충전 과전압이 크다 — 우리 곡선과 대조 슬라이드를 하나 더 넣을 수 있다 (우리 데이터는 실험 노트에서).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G3 정정을 발표에서 스스로 말한다. 899.6 × 15 mg × 0.698 = 9.4 mAh cm⁻² — Table S1 의 9.3 과 일치. Gr-only 의 급사가 셀 사고인지 계통인지는 단일 셀이라 모른다.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'안정' 의 정의를 CE 로 한정해 말한다. 두 셀이 겹친 유일한 그림. 우리 anode-free 계획에는 선례이자 경고(14장).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digest §5.4. 고체계에서는 sulfate 화학 대신 SE 분해물이 같은 자리를 차지할 수 있다(미검증) — 16장 '못 옮길 것'.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1/5 C 로 3.6 V 까지. Li2S 신호 자체가 약하다(탄소 75 %) — 'Li2S 가 사라진다' 는 정성. LiPs 밴드 부재가 더 믿을 만한 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'첫 동시 관찰' 주장. β-S8 은 전자빔에 약해 cryo 가 필요했다. 고체계로 넘어가는 다리 문장을 여기서.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파우치 50 사이클은 시연이지 수명 데이터가 아니다(G11). 저자의 결론 문장: 매우 안정한 Li-free 음극이 필요하다.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예비 비판: 준안정 Pnma 분율 미상(G7) · CNT-only 대조군의 25 wt% 조건(G8) · 에너지밀도 분모(G10).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위키 질문 카드 reference-cell-500-600-mahg 의 H1·H2·H4 가 이 슬라이드에서 나온다. 우리 실험 수치는 실험 노트에서 가져와 넣는다(위키에는 없다).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나머지 4개(orthorhombic 근거 · 1006 Wh/kg 기준 · 파우치 CE 요동 원인 · lean 전해질)는 위키 페이지 §7.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후 받은 질문을 위키 kim2023-seminar-prep 의 Status 절에 append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세미나 · 초안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Long-lasting, reinforced electrical networking in a high-loading Li₂S cathode for high-performance lithium–sulfur batteries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832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Kim, K.-J. Min, S. Bang, J.-Y. Hwang, J. H. Kim, C. S. Yoon, Y.-K. Sun · Carbon Energy 5 (2023) e308 · DOI 10.1002/cey2.308 · CC BY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7863840" cy="1417320"/>
          </a:xfrm>
          <a:prstGeom prst="roundRect">
            <a:avLst>
              <a:gd name="adj" fmla="val 7742"/>
            </a:avLst>
          </a:prstGeom>
          <a:solidFill>
            <a:srgbClr val="1E2228"/>
          </a:solidFill>
          <a:ln w="12700">
            <a:solidFill>
              <a:srgbClr val="1E22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48056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메시지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절연체 Li₂S 를 살리는 탄소의 일은 둘이다 — 넓게 닿는 것과 끝까지 잇는 것. 그 둘을 차원이 다른 탄소에 나눠 맡기자 15 mg cm⁻² 고로딩에서도 첫 충전 활성화와 800 사이클 수명이 같이 왔다.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________  ·  날짜: ________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59368" y="1344168"/>
            <a:ext cx="3072384" cy="3712464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0" descr="/tmp/claude-0/-home-user-Yonghoon-DEM-DFT/50d86a44-064a-5eae-adfa-455a9b86e34e/scratchpad/pptx/img/fig4_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417320"/>
            <a:ext cx="2926080" cy="35661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732520" y="5029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4C — CNT-only · Gr-only · Gr+CNT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문제 · digest §2.2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문제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Li₂S 인가 — 방전 상태의 활물질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0F6F6B"/>
          </a:solidFill>
          <a:ln w="12700">
            <a:solidFill>
              <a:srgbClr val="0F6F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9164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양극에 Li 원천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1031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금속 없는 음극이 가능 — 흑연 · Si · 합금 · anode-free. 이 논문은 흑연 full cell 로 시연한다.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84048" cy="384048"/>
          </a:xfrm>
          <a:prstGeom prst="ellipse">
            <a:avLst/>
          </a:prstGeom>
          <a:solidFill>
            <a:srgbClr val="0F6F6B"/>
          </a:solidFill>
          <a:ln w="12700">
            <a:solidFill>
              <a:srgbClr val="0F6F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1752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같은 이론용량, 다른 분모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429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기준 1675 mAh g⁻¹(S) = Li₂S 기준 1166 mAh g⁻¹(Li₂S). 환산 ×0.698 — 이 발표의 모든 용량에 분모를 적는다.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389120"/>
            <a:ext cx="384048" cy="384048"/>
          </a:xfrm>
          <a:prstGeom prst="ellipse">
            <a:avLst/>
          </a:prstGeom>
          <a:solidFill>
            <a:srgbClr val="0F6F6B"/>
          </a:solidFill>
          <a:ln w="12700">
            <a:solidFill>
              <a:srgbClr val="0F6F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3434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대가: 절연체의 첫 충전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7548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Li₂S 는 전자·이온 모두 절연에 가깝다(~10⁻¹³ S cm⁻¹ 인용). 첫 탈리튬화에 큰 활성화 에너지 → 활성화된 만큼만 쓴다 (다음 장).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589520" y="1645920"/>
            <a:ext cx="4023360" cy="4206240"/>
          </a:xfrm>
          <a:prstGeom prst="roundRect">
            <a:avLst>
              <a:gd name="adj" fmla="val 3182"/>
            </a:avLst>
          </a:prstGeom>
          <a:solidFill>
            <a:srgbClr val="E0F0EF"/>
          </a:solidFill>
          <a:ln w="12700">
            <a:solidFill>
              <a:srgbClr val="E0F0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0" y="18288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1675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26334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 g⁻¹(S) — 황 질량 기준 이론용량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200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1166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40050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 g⁻¹(Li₂S) — Li₂S 질량 기준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5720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6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0.698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53766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M(S)/M(Li₂S) = 32.065/45.95 — (S) → (Li₂S)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문제 · digest §9.1 · [도표] = 그림에서 눈으로 읽은 근사값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문제 · 이 발표에서 우리에게 가장 직접적인 그림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첫 충전에서 살린 만큼만 쓴다 — Fig. S1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6912864" cy="3968496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Yonghoon-DEM-DFT/50d86a44-064a-5eae-adfa-455a9b86e34e/scratchpad/pptx/img/figS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6766560" cy="3291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020056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S1 (SI). (A) 첫 충전 · (B) 첫 충전을 25/50/75/100 % 로 제한 · (C) 이후 20 사이클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173736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충전 용량을 25 / 50 / 75 / 100 % 로 끊은 네 셀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 방전 ≈ 270 / 530 / 730 / 930 mAh g⁻¹(S) [도표] — 20 사이클 동안 네 층이 그대로 유지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 안 된 Li₂S 는 뒤 사이클에서 자발적으로 깨어나지 않는다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 명제: "the initially activated Li₂S dominantly determines the energy density and cycling capacity" [인쇄]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B0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우리 reference cell 의 첫 질문은 "첫 충전에서 얼마를 뽑았는가"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문제 · digest §2.2, §4.1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문제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고로딩 Li₂S 양극에서 무엇이 막히나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3291840"/>
          </a:xfrm>
          <a:prstGeom prst="rect">
            <a:avLst/>
          </a:prstGeom>
          <a:solidFill>
            <a:srgbClr val="F3F2EE"/>
          </a:solidFill>
          <a:ln w="12700">
            <a:solidFill>
              <a:srgbClr val="DFDD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51663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집전체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5010912"/>
            <a:ext cx="5760720" cy="109728"/>
          </a:xfrm>
          <a:prstGeom prst="rect">
            <a:avLst/>
          </a:prstGeom>
          <a:solidFill>
            <a:srgbClr val="545B66"/>
          </a:solidFill>
          <a:ln w="12700">
            <a:solidFill>
              <a:srgbClr val="545B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194560"/>
            <a:ext cx="1005840" cy="822960"/>
          </a:xfrm>
          <a:prstGeom prst="ellipse">
            <a:avLst/>
          </a:prstGeom>
          <a:solidFill>
            <a:srgbClr val="D9DEE5"/>
          </a:solidFill>
          <a:ln w="12700">
            <a:solidFill>
              <a:srgbClr val="B7C0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103120"/>
            <a:ext cx="1188720" cy="914400"/>
          </a:xfrm>
          <a:prstGeom prst="ellipse">
            <a:avLst/>
          </a:prstGeom>
          <a:solidFill>
            <a:srgbClr val="D9DEE5"/>
          </a:solidFill>
          <a:ln w="12700">
            <a:solidFill>
              <a:srgbClr val="B7C0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2286000"/>
            <a:ext cx="914400" cy="731520"/>
          </a:xfrm>
          <a:prstGeom prst="ellipse">
            <a:avLst/>
          </a:prstGeom>
          <a:solidFill>
            <a:srgbClr val="D9DEE5"/>
          </a:solidFill>
          <a:ln w="12700">
            <a:solidFill>
              <a:srgbClr val="B7C0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0" y="2103120"/>
            <a:ext cx="914400" cy="822960"/>
          </a:xfrm>
          <a:prstGeom prst="ellipse">
            <a:avLst/>
          </a:prstGeom>
          <a:solidFill>
            <a:srgbClr val="D9DEE5"/>
          </a:solidFill>
          <a:ln w="12700">
            <a:solidFill>
              <a:srgbClr val="B7C0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383280"/>
            <a:ext cx="1097280" cy="822960"/>
          </a:xfrm>
          <a:prstGeom prst="ellipse">
            <a:avLst/>
          </a:prstGeom>
          <a:solidFill>
            <a:srgbClr val="D9DEE5"/>
          </a:solidFill>
          <a:ln w="12700">
            <a:solidFill>
              <a:srgbClr val="B7C0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3291840"/>
            <a:ext cx="1005840" cy="914400"/>
          </a:xfrm>
          <a:prstGeom prst="ellipse">
            <a:avLst/>
          </a:prstGeom>
          <a:solidFill>
            <a:srgbClr val="D9DEE5"/>
          </a:solidFill>
          <a:ln w="12700">
            <a:solidFill>
              <a:srgbClr val="B7C0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3474720"/>
            <a:ext cx="1280160" cy="822960"/>
          </a:xfrm>
          <a:prstGeom prst="ellipse">
            <a:avLst/>
          </a:prstGeom>
          <a:solidFill>
            <a:srgbClr val="D9DEE5"/>
          </a:solidFill>
          <a:ln w="12700">
            <a:solidFill>
              <a:srgbClr val="B7C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20240" y="4297680"/>
            <a:ext cx="914400" cy="640080"/>
          </a:xfrm>
          <a:prstGeom prst="ellipse">
            <a:avLst/>
          </a:prstGeom>
          <a:solidFill>
            <a:srgbClr val="D9DEE5"/>
          </a:solidFill>
          <a:ln w="12700">
            <a:solidFill>
              <a:srgbClr val="B7C0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66160" y="4297680"/>
            <a:ext cx="1097280" cy="640080"/>
          </a:xfrm>
          <a:prstGeom prst="ellipse">
            <a:avLst/>
          </a:prstGeom>
          <a:solidFill>
            <a:srgbClr val="D9DEE5"/>
          </a:solidFill>
          <a:ln w="12700">
            <a:solidFill>
              <a:srgbClr val="B7C0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4206240"/>
            <a:ext cx="822960" cy="731520"/>
          </a:xfrm>
          <a:prstGeom prst="ellipse">
            <a:avLst/>
          </a:prstGeom>
          <a:solidFill>
            <a:srgbClr val="D9DEE5"/>
          </a:solidFill>
          <a:ln w="12700">
            <a:solidFill>
              <a:srgbClr val="B7C0C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Li₂S 1–5 µm (절연체)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45920" y="2103120"/>
            <a:ext cx="0" cy="2834640"/>
          </a:xfrm>
          <a:prstGeom prst="line">
            <a:avLst/>
          </a:prstGeom>
          <a:noFill/>
          <a:ln w="31750">
            <a:solidFill>
              <a:srgbClr val="0F6F6B"/>
            </a:solidFill>
            <a:prstDash val="dash"/>
            <a:headEnd type="triangle"/>
          </a:ln>
        </p:spPr>
      </p:sp>
      <p:sp>
        <p:nvSpPr>
          <p:cNvPr id="21" name="Shape 19"/>
          <p:cNvSpPr/>
          <p:nvPr/>
        </p:nvSpPr>
        <p:spPr>
          <a:xfrm>
            <a:off x="3383280" y="2103120"/>
            <a:ext cx="0" cy="2834640"/>
          </a:xfrm>
          <a:prstGeom prst="line">
            <a:avLst/>
          </a:prstGeom>
          <a:noFill/>
          <a:ln w="31750">
            <a:solidFill>
              <a:srgbClr val="0F6F6B"/>
            </a:solidFill>
            <a:prstDash val="dash"/>
            <a:headEnd type="triangle"/>
          </a:ln>
        </p:spPr>
      </p:sp>
      <p:sp>
        <p:nvSpPr>
          <p:cNvPr id="22" name="Shape 20"/>
          <p:cNvSpPr/>
          <p:nvPr/>
        </p:nvSpPr>
        <p:spPr>
          <a:xfrm>
            <a:off x="5029200" y="2103120"/>
            <a:ext cx="0" cy="2834640"/>
          </a:xfrm>
          <a:prstGeom prst="line">
            <a:avLst/>
          </a:prstGeom>
          <a:noFill/>
          <a:ln w="31750">
            <a:solidFill>
              <a:srgbClr val="0F6F6B"/>
            </a:solidFill>
            <a:prstDash val="dash"/>
            <a:head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92608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e⁻ 두께 방향 166 µm (15 mg cm⁻²)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1828800"/>
            <a:ext cx="4892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전극이 두꺼워질수록 전자 이동이 전극 전체로 지연된다 (refs 11, 12)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Li₂S 75 %, 탄소 25 % — 탄소가 적을수록 **어떤 탄소인가**가 드러난다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그래핀: in-plane 10⁷–10⁸ S m⁻¹ 로 좋지만 through-plane 은 약하다 (ref 20)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접촉(면적)과 네트워크(두께 방향)는 다른 일이다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B0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 30:50:20 에서는 여기에 이온 경로(SE 50 %)가 하나 더 겹친다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설계 · digest §3.1, §4.1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설계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설계 — 2D 그래핀은 닿고, 1D CNT 는 잇는다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5815584" cy="3785616"/>
          </a:xfrm>
          <a:prstGeom prst="roundRect">
            <a:avLst>
              <a:gd name="adj" fmla="val 2415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Yonghoon-DEM-DFT/50d86a44-064a-5eae-adfa-455a9b86e34e/scratchpad/pptx/img/fig1_A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669280" cy="31089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83717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(A) NMP 초음파 분산 → Gr/CNT · (B) Gr · (C) Gr/CNT: CNT(~15 nm) 가 Gr 입자를 잇는다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73368" y="1618488"/>
            <a:ext cx="5358384" cy="2139696"/>
          </a:xfrm>
          <a:prstGeom prst="roundRect">
            <a:avLst>
              <a:gd name="adj" fmla="val 4274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tmp/claude-0/-home-user-Yonghoon-DEM-DFT/50d86a44-064a-5eae-adfa-455a9b86e34e/scratchpad/pptx/img/fig4_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6520" y="1691640"/>
            <a:ext cx="5212080" cy="1463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46520" y="3191256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4C — CNT-only / Gr-only / Gr+CNT 에서 e⁻ 가 Li₂S 에 닿는 방식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36118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= 넓은 접촉면</a:t>
            </a:r>
            <a:endParaRPr lang="en-US" sz="1250" dirty="0"/>
          </a:p>
          <a:p>
            <a:pPr lvl="1" marL="3556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벌크 Li₂S 와 큰 면적으로 전자 교환 → 활성화를 맡는다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= 두께 방향 고속도로</a:t>
            </a:r>
            <a:endParaRPr lang="en-US" sz="1250" dirty="0"/>
          </a:p>
          <a:p>
            <a:pPr lvl="1" marL="355600" indent="-1778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방향으로 네트워크 → 전기적 고립부를 없앤다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건식 혼합은 응집(Fig. S2) → 각각 NMP 초음파 30 min 후 혼합, 여과·190 °C 건조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설계 · digest §4.2 · [도표] = 그림에서 눈으로 읽은 근사값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설계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탄소만으로 먼저 증명 — 두께 방향 I–V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4901184" cy="4517136"/>
          </a:xfrm>
          <a:prstGeom prst="roundRect">
            <a:avLst>
              <a:gd name="adj" fmla="val 2024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Yonghoon-DEM-DFT/50d86a44-064a-5eae-adfa-455a9b86e34e/scratchpad/pptx/img/fig1_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4754880" cy="3840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56869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1D — 활물질 없는 탄소 펠릿(10 mm, 0.5 mm 두께), 1–5 mV 정전압, Keithley 2400 (Fig. S3 setup)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737360"/>
            <a:ext cx="6080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펠릿 위·아래에 Cu 집전체 — 전극 두께 방향의 전자 전도를 본다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Gr/CNT 가 각 전압에서 ~35 % 높은 전류 [인쇄]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mV 에서 Gr ≈ 59 µA, Gr/CNT ≈ 80 µA [도표] — 둘 다 원점을 지나는 옴 거동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 전도도는 안 준다 — 기하로 환산하면 σ ≳ 0.01 S cm⁻¹ (접촉저항 포함 하한) [재현]</a:t>
            </a:r>
            <a:endParaRPr lang="en-US" sz="135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Li₂S 가 들어간 실제 양극의 저항은 아니다. 논증의 첫 단계일 뿐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설계 · digest §3.2, §4.3, §4.4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설계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Compact 양극 — ball milling → 1 GPa 펠릿, 바인더도 집전체도 없다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7644384" cy="3877056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Yonghoon-DEM-DFT/50d86a44-064a-5eae-adfa-455a9b86e34e/scratchpad/pptx/img/fig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7498080" cy="3200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92861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(A) 1 GPa 성형 · (B) 단면 166 µm @ 15 mg cm⁻² · (C) 1–5 µm Li₂S 가 Gr/CNT 에 싸임 · (D–G) cubic + orthorhombic Li₂S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321040" y="1691640"/>
            <a:ext cx="3337560" cy="1874520"/>
          </a:xfrm>
          <a:prstGeom prst="roundRect">
            <a:avLst>
              <a:gd name="adj" fmla="val 5854"/>
            </a:avLst>
          </a:prstGeom>
          <a:solidFill>
            <a:srgbClr val="E0F0EF"/>
          </a:solidFill>
          <a:ln w="12700">
            <a:solidFill>
              <a:srgbClr val="E0F0E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22208" y="1837944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조건 [인쇄]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522208" y="2240280"/>
            <a:ext cx="2935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Li₂S(상용 99.98 %) : Gr/CNT = 75 : 25 wt · Gr:CNT 7:1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"mechanical ball milling" — rpm·시간·BPR 미기재 (G1)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mm 몰드 1 GPa 5 min · 로딩 10 / 15 mg cm⁻² (±0.1)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321040" y="3703320"/>
            <a:ext cx="3337560" cy="2103120"/>
          </a:xfrm>
          <a:prstGeom prst="roundRect">
            <a:avLst>
              <a:gd name="adj" fmla="val 5217"/>
            </a:avLst>
          </a:prstGeom>
          <a:solidFill>
            <a:srgbClr val="F8ECDF"/>
          </a:solidFill>
          <a:ln w="12700">
            <a:solidFill>
              <a:srgbClr val="F8ECD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22208" y="3849624"/>
            <a:ext cx="2935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06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준안정 Pnma Li₂S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522208" y="4251960"/>
            <a:ext cx="29352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벌크 전이압은 12 GPa (ref 34) 인데 1 GPa 성형에서 일부 관찰 — 국소 응력 + Gr 구속 가설. 분율은 미상(XRD 없음, G7).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우리 펠릿·HEBM 분말도 XRD 로 볼 가치가 있다.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증거 · digest §5.1, §5.3 · [도표] = 그림에서 눈으로 읽은 근사값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증거 · 성능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첫 사이클 — Gr/CNT &gt; Gr ≫ CNT-only, 그리고 내려가지 않는 충전 곡선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5266944" cy="3922776"/>
          </a:xfrm>
          <a:prstGeom prst="roundRect">
            <a:avLst>
              <a:gd name="adj" fmla="val 2331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Yonghoon-DEM-DFT/50d86a44-064a-5eae-adfa-455a9b86e34e/scratchpad/pptx/img/fig4_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120640" cy="32461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4974336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4A — 15 mg cm⁻², 0.1 C, 1.9–3.6 V vs Li/Li⁺, 30 °C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75488" y="4956048"/>
            <a:ext cx="5266944" cy="1563624"/>
          </a:xfrm>
          <a:prstGeom prst="roundRect">
            <a:avLst>
              <a:gd name="adj" fmla="val 5848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tmp/claude-0/-home-user-Yonghoon-DEM-DFT/50d86a44-064a-5eae-adfa-455a9b86e34e/scratchpad/pptx/img/figS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5029200"/>
            <a:ext cx="5120640" cy="1417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" y="64465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S4 — Gr:CNT 7:1 만 Gr 단독보다 낫다 (0.5 C, 30 cyc) [도표]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1737360"/>
            <a:ext cx="571500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방전 ≈ 1150 / 1080 / 630 mAh g⁻¹(S) [도표] — Gr/CNT 는 11.5 mAh cm⁻² [인쇄] ≈ 800 mAh g⁻¹(Li₂S)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충전: ~3.4 V 스파이크 뒤 3.15–3.2 V 에서 **내려가지 않고** 3.6 V 까지 완만히 상승 — 통상의 LiPs 매개 하강이 없다 = 직접 전환의 서명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 는 소량이 최적: 7:1 (양극의 3.125 wt%) 만 개선, 4:1 은 동등, 1:1 은 크게 나쁨 (Fig. S4)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CNT-only(25 wt%) 는 micro-Li₂S 를 활성화 못 한다 — 접촉면적 부족 (이 조건에서, G8)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 장벽이 사라진 게 아니라, 그 뒤가 다르다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증거 · digest §5.2, §5.6 · [도표] = 그림에서 눈으로 읽은 근사값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증거 · 성능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수명과 율속 — Gr-only 는 50 사이클에 죽고, Gr/CNT 는 100 사이클 84.9 %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5541264" cy="3968496"/>
          </a:xfrm>
          <a:prstGeom prst="roundRect">
            <a:avLst>
              <a:gd name="adj" fmla="val 2304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Yonghoon-DEM-DFT/50d86a44-064a-5eae-adfa-455a9b86e34e/scratchpad/pptx/img/fig4_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394960" cy="32918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020056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4B — 0.5 C (8.8 mA cm⁻²), 1.8–2.8 V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99048" y="1618488"/>
            <a:ext cx="2889504" cy="3968496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tmp/claude-0/-home-user-Yonghoon-DEM-DFT/50d86a44-064a-5eae-adfa-455a9b86e34e/scratchpad/pptx/img/fig4_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691640"/>
            <a:ext cx="2743200" cy="32918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72200" y="502005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4E — 0.1 → 1.0 C (17.6 mA cm⁻²)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9098280" y="1737360"/>
            <a:ext cx="25603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C: 899.6 mAh g⁻¹(S) = 628 mAh g⁻¹(Li₂S) · 9.3 mAh cm⁻² · 100 cyc 84.9 % [인쇄, Table S1]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Gr-only 833.4 → ~50 cyc 에서 CE 100 → 75 % 붕괴 후 사망 [도표]; CNT-only 205.6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C 에서 &gt; 6 mAh cm⁻² [인쇄]; 0.1 C 복귀 ≈ 9.0 [도표]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AB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본문의 "899.6 mAh g⁻¹ (11.5 mAh cm⁻²)" — 괄호는 0.1 C 첫 방전 값. 0.5 C 는 9.3 (G3)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4406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셀 곡선 — 셀 개수·오차 없음 (G4)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증거 · digest §5.5, §5.7 · [도표] = 그림에서 눈으로 읽은 근사값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증거 · 성능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흑연 full cell 800 사이클 — CE 는 안정, 용량은 43 %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7370064" cy="2688336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Yonghoon-DEM-DFT/50d86a44-064a-5eae-adfa-455a9b86e34e/scratchpad/pptx/img/fig4_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7223760" cy="20116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739896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4D — Li₂S‖Graphite, 10 mg cm⁻², N/P 1.2, 0.2 C, 1.6–2.8 V, 두 셀 (1)(2)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882128" y="1618488"/>
            <a:ext cx="3849624" cy="3008376"/>
          </a:xfrm>
          <a:prstGeom prst="roundRect">
            <a:avLst>
              <a:gd name="adj" fmla="val 3040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tmp/claude-0/-home-user-Yonghoon-DEM-DFT/50d86a44-064a-5eae-adfa-455a9b86e34e/scratchpad/pptx/img/fig4_F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955280" y="1691640"/>
            <a:ext cx="3703320" cy="23317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55280" y="405993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4F — 문헌 대비 (refs 6, 39–41)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160520"/>
            <a:ext cx="11109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mAh cm⁻² [인쇄] = 530 mAh g⁻¹(Li₂S) ≈ 760 mAh g⁻¹(S); 800 사이클 후 ≈ 2.3 mAh cm⁻² [도표]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S1: 800 cyc **43.0 %** (500 cyc 60.6 %) · CE ≈ 97–99 % 전 구간 평탄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"ultra-long-term cycling stability" 는 **CE** 로 읽는다 — 용량은 선형에 가깝게 절반 이하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전해질 2.5 M LiTFSI + 0.4 M LiNO₃ (흑연 호환, ref 38) · 12 µL mg⁻¹(Li₂S) — lean 아님 (G9)</a:t>
            </a:r>
            <a:endParaRPr lang="en-US" sz="13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B0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그래도: Li 금속 없이 Li₂S 가 800 사이클 Li 원천 노릇을 했다 — 우리 anode-free 의 선례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기전 · digest §5.4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증거 · 기전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Gr-only 는 죽고 Gr/CNT 는 사나 — passivation 과 분업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6547104" cy="4700016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Yonghoon-DEM-DFT/50d86a44-064a-5eae-adfa-455a9b86e34e/scratchpad/pptx/img/fig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6400800" cy="40233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751576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— 사이클 후 SEM (A: Li₂S/Gr 사망 후 · B: Gr/CNT 같은 사이클 수) · XPS S 2p (C, D)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1737360"/>
            <a:ext cx="44348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Li₂S/Gr: Gr 표면이 두껍게 passivation — XPS 는 sulfate · polythionate · thiosulfate 지배, Li₂S 피크 없음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Gr/CNT: 산화황 종 훨씬 적고 ~160.8 eV Li₂S 피크 잔존 [도표]; **CNT 형태 온존**, 표면 대부분 침전물 없음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분업: Gr 이 전환 반응을 주도, CNT 가 전극 전체의 전도를 유지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한계: 표면 수 nm 기법 + 귀속은 인용뿐(G12). "Li₂S 피크 없음" 은 덮여서 안 보이는 것일 수도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기전 · digest §6.1, §6.3 · [도표] = 그림에서 눈으로 읽은 근사값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증거 · 기전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첫 충전에서 무슨 일이 — in situ Raman · 광학현미경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7735824" cy="4882896"/>
          </a:xfrm>
          <a:prstGeom prst="roundRect">
            <a:avLst>
              <a:gd name="adj" fmla="val 1873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Yonghoon-DEM-DFT/50d86a44-064a-5eae-adfa-455a9b86e34e/scratchpad/pptx/img/fig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7589520" cy="4206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93445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— (A) 창 달린 셀, Al 메시 구멍 360×900 µm · (B) Raman 컨투어 vs SoC · (C) OM 스냅샷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1737360"/>
            <a:ext cx="3246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Raman: Li₂S 373 cm⁻¹ 약화 → S₈ 152·220·473 cm⁻¹ 가 SoC 12 % 부터 [인쇄]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LiPs 밴드 398 (S₈ⁿ⁻) · 453 (S₄²⁻) cm⁻¹ **부재** — 양성 대조는 Fig. S8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OM: 노란 액체 LiPs 없음; S₈ 이 Li₂S 바로 옆에 ~10 % 부터 출현, 말기엔 S₈ 만</a:t>
            </a:r>
            <a:endParaRPr lang="en-US" sz="1250" dirty="0"/>
          </a:p>
          <a:p>
            <a:pPr marL="342900" indent="-3429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AB3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직접 전환 Li₂S → S₈. 단 원인(compact? LiNO₃ 0.8 M?)은 분리되지 않았다 (G6)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기전 · digest §6.2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증거 · 기전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cryo-TEM 50 % SoC — Li₂S 와 β-S₈ 가 공존한다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5998464" cy="4791456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Yonghoon-DEM-DFT/50d86a44-064a-5eae-adfa-455a9b86e34e/scratchpad/pptx/img/fig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852160" cy="4114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843016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— Gr/CNT 양극, 103.15 K. SAED: cubic Li₂S (113)(200) + d = 4.5 Å 링 → β-S₈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601968" y="1618488"/>
            <a:ext cx="2523744" cy="2779776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tmp/claude-0/-home-user-Yonghoon-DEM-DFT/50d86a44-064a-5eae-adfa-455a9b86e34e/scratchpad/pptx/img/figS6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75120" y="1691640"/>
            <a:ext cx="2377440" cy="21031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75120" y="38313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S6 — Li₂S/Gr 대조: 200–500 nm 큰 Li₂S 잔존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4343400"/>
            <a:ext cx="4983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nm 응집체 + 10–100 nm 입자, 길쭉한 Pnma Li₂S 는 사라짐 → 준안정상이 먼저 탈리튬화 (해석)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"S₈ and Li₂S coexist even at 50 % SoC" — 통상의 solid–liquid–solid 와 다르다 [인쇄]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대조 Gr-only 는 큰 Li₂S 가 남는다 → 네트워크가 **균일 반응**을 만든다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B0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우리에게: 고체계에서는 직접 전환이 특이가 아니라 기본 경로 — 이 관측 틀(ex situ cryo/XRD)이 그대로 쓸 만하다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한계 · digest §7, §9.3 · [도표] = 그림에서 눈으로 읽은 근사값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한계 · 우리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파우치 셀 — 그리고 Li 금속이 먼저 죽는다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75488" y="1618488"/>
            <a:ext cx="6181344" cy="4425696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/tmp/claude-0/-home-user-Yonghoon-DEM-DFT/50d86a44-064a-5eae-adfa-455a9b86e34e/scratchpad/pptx/img/fig8_B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6035040" cy="3749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477256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8B/C — 양면 10 mg cm⁻², 0.05 C. 반쪽셀(Li 금속) vs full cell(흑연), 50 사이클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84848" y="1618488"/>
            <a:ext cx="2340864" cy="2368296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FDD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tmp/claude-0/-home-user-Yonghoon-DEM-DFT/50d86a44-064a-5eae-adfa-455a9b86e34e/scratchpad/pptx/img/figS10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0" y="1691640"/>
            <a:ext cx="2194560" cy="1691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0" y="34198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S10 — 50 cyc 후 Li 금속: 중심부 고갈, Cu 노출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858000" y="374904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반쪽셀 6.7 · full cell 5.3 mAh cm⁻² [인쇄]; 50 cyc 유지 86.4 % / 92.5 %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반쪽셀은 30 cyc 뒤 CE 가 85–100 % 로 요동 [도표] — LiPs 셔틀 → passivation → 불균일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1006 Wh kg⁻¹ 는 **Li₂S + 탄소 질량**만의 값 (Table S2, G10) — 셀 수준 아님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b="1" dirty="0">
                <a:solidFill>
                  <a:srgbClr val="B0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anode-free 에는 경고: Li 원천이 양극에 있어도 침적이 불균일하면 셀이 먼저 죽는다. 초기 Li 0 이라 여유가 더 없다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한계 · digest §11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한계 · 우리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비판 — 이 논문을 인용하기 전에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883664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B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"800 사이클 안정" 은 CE 다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286000"/>
            <a:ext cx="31181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용량은 5.3 → ≈2.3 mAh cm⁻² (43 %). 초록의 "ultra-long-term stability" 는 CE 기준으로 읽어야 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F8ECDF"/>
          </a:solidFill>
          <a:ln w="12700">
            <a:solidFill>
              <a:srgbClr val="F8EC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883664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6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원인 분리가 없다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286000"/>
            <a:ext cx="31181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전환이 compact geometry 때문인지 고 LiNO₃(0.8 M) 전해질 때문인지 대조 실험이 없다. 같은 그룹 ref 28 과 같은 전해질.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20440" cy="2651760"/>
          </a:xfrm>
          <a:prstGeom prst="roundRect">
            <a:avLst>
              <a:gd name="adj" fmla="val 4138"/>
            </a:avLst>
          </a:prstGeom>
          <a:solidFill>
            <a:srgbClr val="EDEAF8"/>
          </a:solidFill>
          <a:ln w="12700">
            <a:solidFill>
              <a:srgbClr val="EDEA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7888" y="1883664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949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재현성 0 · 조건 미기재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286000"/>
            <a:ext cx="31181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셀 곡선(Fig. 4D 만 2셀). ball milling 조건(밀·rpm·시간·BPR) 전무. 본문 수치 오기 하나(G3).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E0F0EF"/>
          </a:solidFill>
          <a:ln w="12700">
            <a:solidFill>
              <a:srgbClr val="E0F0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4764024"/>
            <a:ext cx="10661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그래도 좋은 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5166360"/>
            <a:ext cx="10661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관측(Raman · OM · cryo-TEM)이 독립적으로 같은 방향이고, 양성 대조(Fig. S8)와 음성 대조(Fig. S6, S7)를 두었으며, 파우치까지 갔다. 탄소 역할 분리의 논증(Fig. 1D → 4A/B → 5)은 그대로 쓸 수 있을 만큼 깔끔하다.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우리 · digest §10 · 위키 reference-cell-500-600-mahg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한계 · 우리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 ASSB reference cell 에 — 옮길 것과 못 옮길 것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옮겨 온다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B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옮기지 않는다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486400" cy="1298448"/>
          </a:xfrm>
          <a:prstGeom prst="roundRect">
            <a:avLst>
              <a:gd name="adj" fmla="val 8451"/>
            </a:avLst>
          </a:prstGeom>
          <a:solidFill>
            <a:srgbClr val="E0F0EF"/>
          </a:solidFill>
          <a:ln w="12700">
            <a:solidFill>
              <a:srgbClr val="E0F0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2203704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탄소 차원 분리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606040"/>
            <a:ext cx="5084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단일 20 wt% → AB 일부를 소량 CNT 로 (총량은 늘리지 않고 구성만). 검증 순서는 논문 그대로: 탄소+SE 펠릿 전도도 → 첫 충전량 → 사이클 후 단면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486400" cy="1298448"/>
          </a:xfrm>
          <a:prstGeom prst="roundRect">
            <a:avLst>
              <a:gd name="adj" fmla="val 8451"/>
            </a:avLst>
          </a:prstGeom>
          <a:solidFill>
            <a:srgbClr val="E0F0EF"/>
          </a:solidFill>
          <a:ln w="12700">
            <a:solidFill>
              <a:srgbClr val="E0F0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621024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압축 성형 논리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023360"/>
            <a:ext cx="5084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바인더 없는 펠릿 — 같은 계열. 우리 압력·공극률을 적어 비교. 펠릿의 Pnma 흔적을 XRD 로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5486400" cy="1298448"/>
          </a:xfrm>
          <a:prstGeom prst="roundRect">
            <a:avLst>
              <a:gd name="adj" fmla="val 8451"/>
            </a:avLst>
          </a:prstGeom>
          <a:solidFill>
            <a:srgbClr val="E0F0EF"/>
          </a:solidFill>
          <a:ln w="12700">
            <a:solidFill>
              <a:srgbClr val="E0F0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5038344"/>
            <a:ext cx="5084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첫 충전량 vs 이후 용량 (Fig. S1 재현)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5440680"/>
            <a:ext cx="508406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충전을 25/50/75/100 % 로 끊어 이후 방전이 층으로 남는지 — 남으면 활성화 제한(H1), 따라 올라오면 동역학(H2/H3). 가장 값싼 다음 실험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55080" y="2057400"/>
            <a:ext cx="5303520" cy="1298448"/>
          </a:xfrm>
          <a:prstGeom prst="roundRect">
            <a:avLst>
              <a:gd name="adj" fmla="val 8451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56248" y="2203704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B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전압창 · 전해질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56248" y="2606040"/>
            <a:ext cx="49011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V vs Li/Li⁺ 컷오프, LiNO₃ 0.8 M, 에테르 — 황화물 SE 에서는 그 전위를 못 쓴다 (근거 논문 ingest 필요)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3474720"/>
            <a:ext cx="5303520" cy="1298448"/>
          </a:xfrm>
          <a:prstGeom prst="roundRect">
            <a:avLst>
              <a:gd name="adj" fmla="val 8451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6248" y="3621024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B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Li₂S 75 %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56248" y="4023360"/>
            <a:ext cx="49011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우리는 SE 가 50 % 를 차지한다 — 같은 mAh g⁻¹(Li₂S) 라도 복합체 기준 0.3 배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4892040"/>
            <a:ext cx="5303520" cy="1298448"/>
          </a:xfrm>
          <a:prstGeom prst="roundRect">
            <a:avLst>
              <a:gd name="adj" fmla="val 8451"/>
            </a:avLst>
          </a:prstGeom>
          <a:solidFill>
            <a:srgbClr val="FBEAE7"/>
          </a:solidFill>
          <a:ln w="12700">
            <a:solidFill>
              <a:srgbClr val="FBEA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6248" y="5038344"/>
            <a:ext cx="49011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B3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passivation 화학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56248" y="5440680"/>
            <a:ext cx="490118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sulfate·polythionate 는 액체계 이야기. 고체계에서는 SE 분해물이 그 자리(미검증)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전에 확정할 것: 우리 목표 500–600 mAh g⁻¹ 의 분모 — (Li₂S) 기준이면 (S) 기준 716–860 에 해당한다.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 · 위키 kim2023-seminar-prep §7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부록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76656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예상 질문 — 답의 근거 위치와 함께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59499F"/>
          </a:solidFill>
          <a:ln w="12700">
            <a:solidFill>
              <a:srgbClr val="59499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LiPs 없이 직접 전환됐다는 증거가 충분한가?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1031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 밴드 부재 + OM 노란 용액 부재 + cryo-TEM 공존, 세 기법 일치 (§6). 단 원인은 분리 안 됨 (G6).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64208"/>
            <a:ext cx="384048" cy="384048"/>
          </a:xfrm>
          <a:prstGeom prst="ellipse">
            <a:avLst/>
          </a:prstGeom>
          <a:solidFill>
            <a:srgbClr val="59499F"/>
          </a:solidFill>
          <a:ln w="12700">
            <a:solidFill>
              <a:srgbClr val="59499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645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CNT 를 많이 넣으면 나빠지나?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1031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저자: Gr 의 접촉면적을 CNT 가 대체. 분산·응집 관측은 없다 (G14). Fig. S4 수치는 [도표].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solidFill>
            <a:srgbClr val="59499F"/>
          </a:solidFill>
          <a:ln w="12700">
            <a:solidFill>
              <a:srgbClr val="59499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 사이클 동안 용량은?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657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→ ≈2.3 mAh cm⁻² (43 %). 안정한 것은 CE (§5.5).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218688"/>
            <a:ext cx="384048" cy="384048"/>
          </a:xfrm>
          <a:prstGeom prst="ellipse">
            <a:avLst/>
          </a:prstGeom>
          <a:solidFill>
            <a:srgbClr val="59499F"/>
          </a:solidFill>
          <a:ln w="12700">
            <a:solidFill>
              <a:srgbClr val="59499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220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고체전해질에도 적용되나?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657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전해질·전압창은 아니다. 탄소 역할 분리·압축 성형·활성화량 논리는 된다 (§10). 고체계는 탄소가 SE 이온 경로를 막지 않아야 하는 조건이 추가.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773168"/>
            <a:ext cx="384048" cy="384048"/>
          </a:xfrm>
          <a:prstGeom prst="ellipse">
            <a:avLst/>
          </a:prstGeom>
          <a:solidFill>
            <a:srgbClr val="59499F"/>
          </a:solidFill>
          <a:ln w="12700">
            <a:solidFill>
              <a:srgbClr val="59499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754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 milling 조건은?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212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논문에 없다 (G1). 입자가 1–5 µm 로 남은 것으로 보아 저에너지 추정.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4773168"/>
            <a:ext cx="384048" cy="384048"/>
          </a:xfrm>
          <a:prstGeom prst="ellipse">
            <a:avLst/>
          </a:prstGeom>
          <a:solidFill>
            <a:srgbClr val="59499F"/>
          </a:solidFill>
          <a:ln w="12700">
            <a:solidFill>
              <a:srgbClr val="59499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4754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우리가 당장 할 실험 하나는?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675120" y="52120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S1 재현 — 첫 충전을 25/50/75/100 % 로 끊고 이후 방전이 층으로 남는지.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절연체 Li₂S 를 살리는 탄소의 일은 둘이다 — 넓게 닿는 것과 끝까지 잇는 것.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Gr(접촉) + 1D CNT 3 wt%(네트워크) → 15 mg cm⁻² 에서 첫 방전 ≈ 800 mAh g⁻¹(Li₂S), 0.5 C 628 mAh g⁻¹(Li₂S) 100 cyc 84.9 %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흑연 full cell 800 사이클 — CE 안정, 용량 43 %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충전 Li₂S → S₈ 직접 전환 (Raman · OM · cryo-TEM) — 고체계에서는 기본 경로</a:t>
            </a:r>
            <a:endParaRPr lang="en-US" sz="15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우리에게: 탄소 차원 분리 · 압축 성형 · Fig. S1 식 첫 충전량 진단은 옮기고, 전압창·전해질·Li₂S 75 % 는 옮기지 않는다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E2228"/>
          </a:solidFill>
          <a:ln w="12700">
            <a:solidFill>
              <a:srgbClr val="1E22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5303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체크리스트 — 모든 비용량에 (S)/(Li₂S) · "899.6 (11.5 mAh cm⁻²)" 인용 금지(0.5 C 는 9.3) · "800 사이클 안정" 은 CE 로 한정 · [도표] 값은 "그림에서 읽은 근사값" · 단일 셀·BM 조건 미기재 언급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Kim et al. 2023 — Li2S/Gr/CNT compact cathode (seminar draft)</dc:title>
  <dc:subject>PptxGenJS Presentation</dc:subject>
  <dc:creator>Li2S ASSB wiki</dc:creator>
  <cp:lastModifiedBy>Li2S ASSB wiki</cp:lastModifiedBy>
  <cp:revision>1</cp:revision>
  <dcterms:created xsi:type="dcterms:W3CDTF">2026-09-11T10:36:57Z</dcterms:created>
  <dcterms:modified xsi:type="dcterms:W3CDTF">2026-09-11T10:36:57Z</dcterms:modified>
</cp:coreProperties>
</file>